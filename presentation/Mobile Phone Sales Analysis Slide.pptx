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C6A3FC6-22F5-4A1D-BA4D-4E33ECDB3840}">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80" d="100"/>
          <a:sy n="80" d="100"/>
        </p:scale>
        <p:origin x="3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2341119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789857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362127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6E96439-ECF8-4F34-A1E7-0059612C1B0B}"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426843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6E96439-ECF8-4F34-A1E7-0059612C1B0B}"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2967516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6E96439-ECF8-4F34-A1E7-0059612C1B0B}"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262483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96439-ECF8-4F34-A1E7-0059612C1B0B}"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262325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E96439-ECF8-4F34-A1E7-0059612C1B0B}"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11099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E96439-ECF8-4F34-A1E7-0059612C1B0B}"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867420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3126210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12541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996555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03236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2851035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1857762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E96439-ECF8-4F34-A1E7-0059612C1B0B}"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4FA040-344B-4A0A-972B-1BF94A9E4C4D}" type="slidenum">
              <a:rPr lang="en-US" smtClean="0"/>
              <a:t>‹#›</a:t>
            </a:fld>
            <a:endParaRPr lang="en-US"/>
          </a:p>
        </p:txBody>
      </p:sp>
    </p:spTree>
    <p:extLst>
      <p:ext uri="{BB962C8B-B14F-4D97-AF65-F5344CB8AC3E}">
        <p14:creationId xmlns:p14="http://schemas.microsoft.com/office/powerpoint/2010/main" val="14458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6E96439-ECF8-4F34-A1E7-0059612C1B0B}" type="datetimeFigureOut">
              <a:rPr lang="en-US" smtClean="0"/>
              <a:t>5/29/2026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4FA040-344B-4A0A-972B-1BF94A9E4C4D}" type="slidenum">
              <a:rPr lang="en-US" smtClean="0"/>
              <a:t>‹#›</a:t>
            </a:fld>
            <a:endParaRPr lang="en-US"/>
          </a:p>
        </p:txBody>
      </p:sp>
    </p:spTree>
    <p:extLst>
      <p:ext uri="{BB962C8B-B14F-4D97-AF65-F5344CB8AC3E}">
        <p14:creationId xmlns:p14="http://schemas.microsoft.com/office/powerpoint/2010/main" val="2804984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84553" y="2434441"/>
            <a:ext cx="8575084" cy="724396"/>
          </a:xfrm>
        </p:spPr>
        <p:txBody>
          <a:bodyPr/>
          <a:lstStyle/>
          <a:p>
            <a:r>
              <a:rPr lang="en-US" dirty="0"/>
              <a:t/>
            </a:r>
            <a:br>
              <a:rPr lang="en-US" dirty="0"/>
            </a:br>
            <a:r>
              <a:rPr lang="en-US" sz="4000" b="1" dirty="0" smtClean="0"/>
              <a:t>MOBILE </a:t>
            </a:r>
            <a:r>
              <a:rPr lang="en-US" sz="4000" b="1" dirty="0"/>
              <a:t>PHONE SALES </a:t>
            </a:r>
            <a:r>
              <a:rPr lang="en-US" sz="4000" b="1" dirty="0" smtClean="0"/>
              <a:t>ANALYSIS</a:t>
            </a:r>
            <a:br>
              <a:rPr lang="en-US" sz="4000" b="1" dirty="0" smtClean="0"/>
            </a:br>
            <a:r>
              <a:rPr lang="en-US" sz="1600" dirty="0" smtClean="0"/>
              <a:t>A Business Intelligence for Velocity Phone Inc.</a:t>
            </a:r>
            <a:endParaRPr lang="en-US" sz="6000" dirty="0"/>
          </a:p>
        </p:txBody>
      </p:sp>
      <p:sp>
        <p:nvSpPr>
          <p:cNvPr id="3" name="Subtitle 2"/>
          <p:cNvSpPr>
            <a:spLocks noGrp="1"/>
          </p:cNvSpPr>
          <p:nvPr>
            <p:ph type="subTitle" idx="1"/>
          </p:nvPr>
        </p:nvSpPr>
        <p:spPr>
          <a:xfrm>
            <a:off x="6828938" y="3860828"/>
            <a:ext cx="2730699" cy="1138684"/>
          </a:xfrm>
        </p:spPr>
        <p:txBody>
          <a:bodyPr>
            <a:normAutofit/>
          </a:bodyPr>
          <a:lstStyle/>
          <a:p>
            <a:r>
              <a:rPr lang="en-US" sz="1600" dirty="0" smtClean="0">
                <a:solidFill>
                  <a:schemeClr val="accent1"/>
                </a:solidFill>
              </a:rPr>
              <a:t>By: Balogun Segun</a:t>
            </a:r>
          </a:p>
          <a:p>
            <a:r>
              <a:rPr lang="en-US" sz="1600" dirty="0" smtClean="0">
                <a:solidFill>
                  <a:schemeClr val="accent1"/>
                </a:solidFill>
              </a:rPr>
              <a:t>Date: May 2026</a:t>
            </a:r>
            <a:endParaRPr lang="en-US" sz="1600" dirty="0">
              <a:solidFill>
                <a:schemeClr val="accent1"/>
              </a:solidFill>
            </a:endParaRPr>
          </a:p>
        </p:txBody>
      </p:sp>
    </p:spTree>
    <p:extLst>
      <p:ext uri="{BB962C8B-B14F-4D97-AF65-F5344CB8AC3E}">
        <p14:creationId xmlns:p14="http://schemas.microsoft.com/office/powerpoint/2010/main" val="2932423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357025"/>
            <a:ext cx="8596668" cy="803564"/>
          </a:xfrm>
        </p:spPr>
        <p:txBody>
          <a:bodyPr/>
          <a:lstStyle/>
          <a:p>
            <a:r>
              <a:rPr lang="en-US" dirty="0" smtClean="0"/>
              <a:t>					Project Overview</a:t>
            </a:r>
            <a:endParaRPr lang="en-US" dirty="0"/>
          </a:p>
        </p:txBody>
      </p:sp>
      <p:sp>
        <p:nvSpPr>
          <p:cNvPr id="3" name="Content Placeholder 2"/>
          <p:cNvSpPr>
            <a:spLocks noGrp="1"/>
          </p:cNvSpPr>
          <p:nvPr>
            <p:ph idx="1"/>
          </p:nvPr>
        </p:nvSpPr>
        <p:spPr/>
        <p:txBody>
          <a:bodyPr>
            <a:normAutofit/>
          </a:bodyPr>
          <a:lstStyle/>
          <a:p>
            <a:pPr marL="0" indent="0">
              <a:buNone/>
            </a:pPr>
            <a:r>
              <a:rPr lang="en-US" sz="2000" dirty="0" smtClean="0">
                <a:solidFill>
                  <a:schemeClr val="accent1"/>
                </a:solidFill>
              </a:rPr>
              <a:t>This project analyzed 366 mobile phone sales transactions for Velocity Phone Inc. in 2024. After cleaning, 303 valid records were used to  build two interactive dashboards. The analysis focused on sales performance, customer insights, and product performance to deliver data-driven business recommendations.</a:t>
            </a:r>
            <a:endParaRPr lang="en-US" sz="2000" dirty="0">
              <a:solidFill>
                <a:schemeClr val="accent1"/>
              </a:solidFill>
            </a:endParaRPr>
          </a:p>
        </p:txBody>
      </p:sp>
    </p:spTree>
    <p:extLst>
      <p:ext uri="{BB962C8B-B14F-4D97-AF65-F5344CB8AC3E}">
        <p14:creationId xmlns:p14="http://schemas.microsoft.com/office/powerpoint/2010/main" val="611465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333275"/>
            <a:ext cx="8596668" cy="827314"/>
          </a:xfrm>
        </p:spPr>
        <p:txBody>
          <a:bodyPr/>
          <a:lstStyle/>
          <a:p>
            <a:r>
              <a:rPr lang="en-US" dirty="0" smtClean="0"/>
              <a:t>				Problem Statement</a:t>
            </a:r>
            <a:endParaRPr lang="en-US" dirty="0"/>
          </a:p>
        </p:txBody>
      </p:sp>
      <p:sp>
        <p:nvSpPr>
          <p:cNvPr id="3" name="Content Placeholder 2"/>
          <p:cNvSpPr>
            <a:spLocks noGrp="1"/>
          </p:cNvSpPr>
          <p:nvPr>
            <p:ph idx="1"/>
          </p:nvPr>
        </p:nvSpPr>
        <p:spPr/>
        <p:txBody>
          <a:bodyPr/>
          <a:lstStyle/>
          <a:p>
            <a:r>
              <a:rPr lang="en-US" sz="2000" dirty="0" smtClean="0">
                <a:solidFill>
                  <a:schemeClr val="accent1"/>
                </a:solidFill>
              </a:rPr>
              <a:t>Velocity Phone Inc. needed to transform raw transactional data into actionable business intelligence to optimize inventory, improve marketing strategies and drive overall business performance.</a:t>
            </a:r>
          </a:p>
          <a:p>
            <a:r>
              <a:rPr lang="en-US" sz="2000" dirty="0" smtClean="0">
                <a:solidFill>
                  <a:schemeClr val="accent1"/>
                </a:solidFill>
              </a:rPr>
              <a:t>This project addresses this challenge by developing two interactive dashboards to identify sales patterns, reveal performance gaps, and provide actionable recommendations.</a:t>
            </a:r>
            <a:endParaRPr lang="en-US" dirty="0">
              <a:solidFill>
                <a:schemeClr val="accent1"/>
              </a:solidFill>
            </a:endParaRPr>
          </a:p>
        </p:txBody>
      </p:sp>
    </p:spTree>
    <p:extLst>
      <p:ext uri="{BB962C8B-B14F-4D97-AF65-F5344CB8AC3E}">
        <p14:creationId xmlns:p14="http://schemas.microsoft.com/office/powerpoint/2010/main" val="402706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342990"/>
            <a:ext cx="8596668" cy="817599"/>
          </a:xfrm>
        </p:spPr>
        <p:txBody>
          <a:bodyPr/>
          <a:lstStyle/>
          <a:p>
            <a:r>
              <a:rPr lang="en-US" dirty="0" smtClean="0"/>
              <a:t>				Project Objectives</a:t>
            </a:r>
            <a:endParaRPr lang="en-US" dirty="0"/>
          </a:p>
        </p:txBody>
      </p:sp>
      <p:sp>
        <p:nvSpPr>
          <p:cNvPr id="3" name="Content Placeholder 2"/>
          <p:cNvSpPr>
            <a:spLocks noGrp="1"/>
          </p:cNvSpPr>
          <p:nvPr>
            <p:ph idx="1"/>
          </p:nvPr>
        </p:nvSpPr>
        <p:spPr/>
        <p:txBody>
          <a:bodyPr>
            <a:normAutofit/>
          </a:bodyPr>
          <a:lstStyle/>
          <a:p>
            <a:pPr marL="0" indent="0">
              <a:buNone/>
            </a:pPr>
            <a:r>
              <a:rPr lang="en-US" sz="2000" dirty="0" smtClean="0">
                <a:solidFill>
                  <a:schemeClr val="accent1"/>
                </a:solidFill>
              </a:rPr>
              <a:t>The main objectives of this project are:</a:t>
            </a:r>
          </a:p>
          <a:p>
            <a:pPr lvl="1"/>
            <a:r>
              <a:rPr lang="en-US" sz="2000" dirty="0" smtClean="0">
                <a:solidFill>
                  <a:schemeClr val="accent1"/>
                </a:solidFill>
              </a:rPr>
              <a:t>Analyze overall sales performance</a:t>
            </a:r>
          </a:p>
          <a:p>
            <a:pPr lvl="1"/>
            <a:r>
              <a:rPr lang="en-US" sz="2000" dirty="0" smtClean="0">
                <a:solidFill>
                  <a:schemeClr val="accent1"/>
                </a:solidFill>
              </a:rPr>
              <a:t>Identify top-performing products</a:t>
            </a:r>
          </a:p>
          <a:p>
            <a:pPr lvl="1"/>
            <a:r>
              <a:rPr lang="en-US" sz="2000" dirty="0" smtClean="0">
                <a:solidFill>
                  <a:schemeClr val="accent1"/>
                </a:solidFill>
              </a:rPr>
              <a:t>Evaluate customer demographics</a:t>
            </a:r>
          </a:p>
          <a:p>
            <a:pPr lvl="1"/>
            <a:r>
              <a:rPr lang="en-US" sz="2000" dirty="0" smtClean="0">
                <a:solidFill>
                  <a:schemeClr val="accent1"/>
                </a:solidFill>
              </a:rPr>
              <a:t>Identify key business trends and insights</a:t>
            </a:r>
          </a:p>
          <a:p>
            <a:pPr lvl="1"/>
            <a:r>
              <a:rPr lang="en-US" sz="2000" dirty="0" smtClean="0">
                <a:solidFill>
                  <a:schemeClr val="accent1"/>
                </a:solidFill>
              </a:rPr>
              <a:t>Provide strategic business recommendations</a:t>
            </a:r>
            <a:endParaRPr lang="en-US" sz="2000" dirty="0">
              <a:solidFill>
                <a:schemeClr val="accent1"/>
              </a:solidFill>
            </a:endParaRPr>
          </a:p>
        </p:txBody>
      </p:sp>
    </p:spTree>
    <p:extLst>
      <p:ext uri="{BB962C8B-B14F-4D97-AF65-F5344CB8AC3E}">
        <p14:creationId xmlns:p14="http://schemas.microsoft.com/office/powerpoint/2010/main" val="28306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1708" y="106879"/>
            <a:ext cx="8596668" cy="665018"/>
          </a:xfrm>
        </p:spPr>
        <p:txBody>
          <a:bodyPr>
            <a:normAutofit fontScale="90000"/>
          </a:bodyPr>
          <a:lstStyle/>
          <a:p>
            <a:r>
              <a:rPr lang="en-US" dirty="0" smtClean="0"/>
              <a:t>					Dashboard 1 Overview</a:t>
            </a:r>
            <a:br>
              <a:rPr lang="en-US" dirty="0" smtClean="0"/>
            </a:br>
            <a:r>
              <a:rPr lang="en-US" dirty="0"/>
              <a:t>	</a:t>
            </a:r>
            <a:r>
              <a:rPr lang="en-US" dirty="0" smtClean="0"/>
              <a:t>								</a:t>
            </a:r>
            <a:r>
              <a:rPr lang="en-US" sz="1400" dirty="0" smtClean="0"/>
              <a:t>(Sales </a:t>
            </a:r>
            <a:r>
              <a:rPr lang="en-US" sz="1400" dirty="0"/>
              <a:t>P</a:t>
            </a:r>
            <a:r>
              <a:rPr lang="en-US" sz="1400" dirty="0" smtClean="0"/>
              <a:t>erformance Dashboard</a:t>
            </a:r>
            <a:r>
              <a:rPr lang="en-US" dirty="0" smtClean="0"/>
              <a:t/>
            </a:r>
            <a:br>
              <a:rPr lang="en-US" dirty="0" smtClean="0"/>
            </a:br>
            <a:endParaRPr lang="en-US" dirty="0"/>
          </a:p>
        </p:txBody>
      </p:sp>
      <p:pic>
        <p:nvPicPr>
          <p:cNvPr id="4" name="Content Placeholder 3"/>
          <p:cNvPicPr>
            <a:picLocks noGrp="1" noChangeAspect="1"/>
          </p:cNvPicPr>
          <p:nvPr>
            <p:ph idx="1"/>
          </p:nvPr>
        </p:nvPicPr>
        <p:blipFill>
          <a:blip r:embed="rId2"/>
          <a:stretch>
            <a:fillRect/>
          </a:stretch>
        </p:blipFill>
        <p:spPr>
          <a:xfrm>
            <a:off x="0" y="890648"/>
            <a:ext cx="12192000" cy="5818909"/>
          </a:xfrm>
          <a:prstGeom prst="rect">
            <a:avLst/>
          </a:prstGeom>
        </p:spPr>
      </p:pic>
    </p:spTree>
    <p:extLst>
      <p:ext uri="{BB962C8B-B14F-4D97-AF65-F5344CB8AC3E}">
        <p14:creationId xmlns:p14="http://schemas.microsoft.com/office/powerpoint/2010/main" val="167828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98960"/>
            <a:ext cx="8596668" cy="803564"/>
          </a:xfrm>
        </p:spPr>
        <p:txBody>
          <a:bodyPr/>
          <a:lstStyle/>
          <a:p>
            <a:r>
              <a:rPr lang="en-US" dirty="0" smtClean="0"/>
              <a:t>					</a:t>
            </a:r>
            <a:r>
              <a:rPr lang="en-US" sz="3200" dirty="0" smtClean="0"/>
              <a:t>Dashboard</a:t>
            </a:r>
            <a:r>
              <a:rPr lang="en-US" dirty="0" smtClean="0"/>
              <a:t> </a:t>
            </a:r>
            <a:r>
              <a:rPr lang="en-US" sz="3200" dirty="0" smtClean="0"/>
              <a:t>2</a:t>
            </a:r>
            <a:r>
              <a:rPr lang="en-US" dirty="0" smtClean="0"/>
              <a:t> </a:t>
            </a:r>
            <a:r>
              <a:rPr lang="en-US" sz="3200" dirty="0" smtClean="0"/>
              <a:t>Overview</a:t>
            </a:r>
            <a:endParaRPr lang="en-US" dirty="0"/>
          </a:p>
        </p:txBody>
      </p:sp>
      <p:pic>
        <p:nvPicPr>
          <p:cNvPr id="4" name="Content Placeholder 3"/>
          <p:cNvPicPr>
            <a:picLocks noGrp="1" noChangeAspect="1"/>
          </p:cNvPicPr>
          <p:nvPr>
            <p:ph idx="1"/>
          </p:nvPr>
        </p:nvPicPr>
        <p:blipFill>
          <a:blip r:embed="rId2"/>
          <a:stretch>
            <a:fillRect/>
          </a:stretch>
        </p:blipFill>
        <p:spPr>
          <a:xfrm>
            <a:off x="0" y="902524"/>
            <a:ext cx="12191999" cy="5830785"/>
          </a:xfrm>
          <a:prstGeom prst="rect">
            <a:avLst/>
          </a:prstGeom>
        </p:spPr>
      </p:pic>
    </p:spTree>
    <p:extLst>
      <p:ext uri="{BB962C8B-B14F-4D97-AF65-F5344CB8AC3E}">
        <p14:creationId xmlns:p14="http://schemas.microsoft.com/office/powerpoint/2010/main" val="844392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154379" y="997525"/>
            <a:ext cx="9345881" cy="2956958"/>
          </a:xfrm>
          <a:prstGeom prst="rect">
            <a:avLst/>
          </a:prstGeom>
        </p:spPr>
      </p:pic>
      <p:sp>
        <p:nvSpPr>
          <p:cNvPr id="7" name="Content Placeholder 6"/>
          <p:cNvSpPr>
            <a:spLocks noGrp="1"/>
          </p:cNvSpPr>
          <p:nvPr>
            <p:ph sz="half" idx="1"/>
          </p:nvPr>
        </p:nvSpPr>
        <p:spPr>
          <a:xfrm>
            <a:off x="2838644" y="4114094"/>
            <a:ext cx="4184035" cy="1894820"/>
          </a:xfrm>
        </p:spPr>
        <p:txBody>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Sales varied across months, with stronger performance recorded in the earlier months, indicating uneven revenue distribution throughout the </a:t>
            </a:r>
            <a:r>
              <a:rPr lang="en-US" sz="1600" dirty="0" smtClean="0">
                <a:solidFill>
                  <a:schemeClr val="accent1"/>
                </a:solidFill>
              </a:rPr>
              <a:t>year.</a:t>
            </a:r>
            <a:endParaRPr lang="en-US" dirty="0">
              <a:solidFill>
                <a:schemeClr val="accent1"/>
              </a:solidFill>
            </a:endParaRPr>
          </a:p>
        </p:txBody>
      </p:sp>
    </p:spTree>
    <p:extLst>
      <p:ext uri="{BB962C8B-B14F-4D97-AF65-F5344CB8AC3E}">
        <p14:creationId xmlns:p14="http://schemas.microsoft.com/office/powerpoint/2010/main" val="1647692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8765" y="3783589"/>
            <a:ext cx="4374479" cy="1757549"/>
          </a:xfrm>
        </p:spPr>
        <p:txBody>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The strong performance in </a:t>
            </a:r>
            <a:r>
              <a:rPr lang="en-US" sz="1600" dirty="0" smtClean="0">
                <a:solidFill>
                  <a:schemeClr val="accent1"/>
                </a:solidFill>
              </a:rPr>
              <a:t>India </a:t>
            </a:r>
            <a:r>
              <a:rPr lang="en-US" sz="1600" dirty="0">
                <a:solidFill>
                  <a:schemeClr val="accent1"/>
                </a:solidFill>
              </a:rPr>
              <a:t>and Turkey </a:t>
            </a:r>
            <a:r>
              <a:rPr lang="en-US" sz="1600" dirty="0" smtClean="0">
                <a:solidFill>
                  <a:schemeClr val="accent1"/>
                </a:solidFill>
              </a:rPr>
              <a:t>indicates </a:t>
            </a:r>
            <a:r>
              <a:rPr lang="en-US" sz="1600" dirty="0">
                <a:solidFill>
                  <a:schemeClr val="accent1"/>
                </a:solidFill>
              </a:rPr>
              <a:t>higher customer acceptance and stronger market penetration in these regions. </a:t>
            </a:r>
          </a:p>
        </p:txBody>
      </p:sp>
      <p:sp>
        <p:nvSpPr>
          <p:cNvPr id="4" name="Content Placeholder 3"/>
          <p:cNvSpPr>
            <a:spLocks noGrp="1"/>
          </p:cNvSpPr>
          <p:nvPr>
            <p:ph sz="half" idx="2"/>
          </p:nvPr>
        </p:nvSpPr>
        <p:spPr>
          <a:xfrm>
            <a:off x="5089970" y="3783589"/>
            <a:ext cx="4422164" cy="1757549"/>
          </a:xfrm>
        </p:spPr>
        <p:txBody>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Samsung and Apple emerged as the high-performing brands. The $1.65M gap between the top and bottom brands shows tiered market positioning, with premium brands capturing higher revenue share.</a:t>
            </a:r>
          </a:p>
          <a:p>
            <a:pPr marL="0" indent="0">
              <a:buNone/>
            </a:pPr>
            <a:endParaRPr lang="en-US" sz="1600" dirty="0"/>
          </a:p>
        </p:txBody>
      </p:sp>
      <p:sp>
        <p:nvSpPr>
          <p:cNvPr id="6" name="Content Placeholder 2"/>
          <p:cNvSpPr txBox="1">
            <a:spLocks/>
          </p:cNvSpPr>
          <p:nvPr/>
        </p:nvSpPr>
        <p:spPr>
          <a:xfrm>
            <a:off x="689209" y="760022"/>
            <a:ext cx="4184035" cy="33409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7" name="Picture 6"/>
          <p:cNvPicPr>
            <a:picLocks noChangeAspect="1"/>
          </p:cNvPicPr>
          <p:nvPr/>
        </p:nvPicPr>
        <p:blipFill>
          <a:blip r:embed="rId2"/>
          <a:stretch>
            <a:fillRect/>
          </a:stretch>
        </p:blipFill>
        <p:spPr>
          <a:xfrm>
            <a:off x="498765" y="874136"/>
            <a:ext cx="4374480" cy="2795339"/>
          </a:xfrm>
          <a:prstGeom prst="rect">
            <a:avLst/>
          </a:prstGeom>
        </p:spPr>
      </p:pic>
      <p:pic>
        <p:nvPicPr>
          <p:cNvPr id="8" name="Picture 7"/>
          <p:cNvPicPr>
            <a:picLocks noChangeAspect="1"/>
          </p:cNvPicPr>
          <p:nvPr/>
        </p:nvPicPr>
        <p:blipFill>
          <a:blip r:embed="rId3"/>
          <a:stretch>
            <a:fillRect/>
          </a:stretch>
        </p:blipFill>
        <p:spPr>
          <a:xfrm>
            <a:off x="5089969" y="874135"/>
            <a:ext cx="4422165" cy="2795339"/>
          </a:xfrm>
          <a:prstGeom prst="rect">
            <a:avLst/>
          </a:prstGeom>
        </p:spPr>
      </p:pic>
    </p:spTree>
    <p:extLst>
      <p:ext uri="{BB962C8B-B14F-4D97-AF65-F5344CB8AC3E}">
        <p14:creationId xmlns:p14="http://schemas.microsoft.com/office/powerpoint/2010/main" val="4187422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96495" y="3783589"/>
            <a:ext cx="4476750" cy="1757549"/>
          </a:xfrm>
        </p:spPr>
        <p:txBody>
          <a:bodyPr>
            <a:normAutofit lnSpcReduction="10000"/>
          </a:bodyPr>
          <a:lstStyle/>
          <a:p>
            <a:pPr marL="0" indent="0">
              <a:buNone/>
            </a:pPr>
            <a:r>
              <a:rPr lang="en-US" dirty="0" smtClean="0"/>
              <a:t>			</a:t>
            </a:r>
            <a:r>
              <a:rPr lang="en-US" dirty="0" smtClean="0">
                <a:solidFill>
                  <a:schemeClr val="accent1"/>
                </a:solidFill>
                <a:latin typeface="+mj-lt"/>
                <a:cs typeface="Calibri" panose="020F0502020204030204" pitchFamily="34" charset="0"/>
              </a:rPr>
              <a:t>Insight</a:t>
            </a:r>
          </a:p>
          <a:p>
            <a:pPr marL="0" indent="0">
              <a:lnSpc>
                <a:spcPct val="115000"/>
              </a:lnSpc>
              <a:buNone/>
            </a:pPr>
            <a:r>
              <a:rPr lang="en-US" sz="1600" dirty="0">
                <a:solidFill>
                  <a:schemeClr val="accent1"/>
                </a:solidFill>
                <a:ea typeface="Arial" panose="020B0604020202020204" pitchFamily="34" charset="0"/>
                <a:cs typeface="Calibri" panose="020F0502020204030204" pitchFamily="34" charset="0"/>
              </a:rPr>
              <a:t>Online sales dominate customer purchasing behavior, this highlights a strong customer preference for digital purchasing channels. Retail stores remain significant, showing some customers still value physical purchase.</a:t>
            </a:r>
            <a:endParaRPr lang="en-US" sz="1600" dirty="0">
              <a:solidFill>
                <a:schemeClr val="accent1"/>
              </a:solidFill>
              <a:effectLst/>
              <a:ea typeface="Arial" panose="020B0604020202020204" pitchFamily="34" charset="0"/>
              <a:cs typeface="Calibri" panose="020F0502020204030204" pitchFamily="34" charset="0"/>
            </a:endParaRPr>
          </a:p>
        </p:txBody>
      </p:sp>
      <p:sp>
        <p:nvSpPr>
          <p:cNvPr id="4" name="Content Placeholder 3"/>
          <p:cNvSpPr>
            <a:spLocks noGrp="1"/>
          </p:cNvSpPr>
          <p:nvPr>
            <p:ph sz="half" idx="2"/>
          </p:nvPr>
        </p:nvSpPr>
        <p:spPr>
          <a:xfrm>
            <a:off x="5089970" y="3783589"/>
            <a:ext cx="4422164" cy="1757549"/>
          </a:xfrm>
        </p:spPr>
        <p:txBody>
          <a:bodyPr>
            <a:normAutofit lnSpcReduction="10000"/>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This indicates strong customer preference for larger storage capacities, reflecting increased demand for devices that support heavier application usage and media storage. </a:t>
            </a:r>
            <a:endParaRPr lang="en-US" dirty="0">
              <a:solidFill>
                <a:schemeClr val="accent1"/>
              </a:solidFill>
            </a:endParaRPr>
          </a:p>
        </p:txBody>
      </p:sp>
      <p:sp>
        <p:nvSpPr>
          <p:cNvPr id="6" name="Content Placeholder 2"/>
          <p:cNvSpPr txBox="1">
            <a:spLocks/>
          </p:cNvSpPr>
          <p:nvPr/>
        </p:nvSpPr>
        <p:spPr>
          <a:xfrm>
            <a:off x="689209" y="760022"/>
            <a:ext cx="4184035" cy="33409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2" name="Picture 1"/>
          <p:cNvPicPr>
            <a:picLocks noChangeAspect="1"/>
          </p:cNvPicPr>
          <p:nvPr/>
        </p:nvPicPr>
        <p:blipFill>
          <a:blip r:embed="rId2"/>
          <a:stretch>
            <a:fillRect/>
          </a:stretch>
        </p:blipFill>
        <p:spPr>
          <a:xfrm>
            <a:off x="396494" y="874135"/>
            <a:ext cx="4476750" cy="2795339"/>
          </a:xfrm>
          <a:prstGeom prst="rect">
            <a:avLst/>
          </a:prstGeom>
        </p:spPr>
      </p:pic>
      <p:pic>
        <p:nvPicPr>
          <p:cNvPr id="5" name="Picture 4"/>
          <p:cNvPicPr>
            <a:picLocks noChangeAspect="1"/>
          </p:cNvPicPr>
          <p:nvPr/>
        </p:nvPicPr>
        <p:blipFill>
          <a:blip r:embed="rId3"/>
          <a:stretch>
            <a:fillRect/>
          </a:stretch>
        </p:blipFill>
        <p:spPr>
          <a:xfrm>
            <a:off x="5089970" y="874134"/>
            <a:ext cx="4422164" cy="2795339"/>
          </a:xfrm>
          <a:prstGeom prst="rect">
            <a:avLst/>
          </a:prstGeom>
        </p:spPr>
      </p:pic>
    </p:spTree>
    <p:extLst>
      <p:ext uri="{BB962C8B-B14F-4D97-AF65-F5344CB8AC3E}">
        <p14:creationId xmlns:p14="http://schemas.microsoft.com/office/powerpoint/2010/main" val="18747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1245" y="3783589"/>
            <a:ext cx="4572000" cy="1757549"/>
          </a:xfrm>
        </p:spPr>
        <p:txBody>
          <a:bodyPr>
            <a:normAutofit/>
          </a:bodyPr>
          <a:lstStyle/>
          <a:p>
            <a:pPr marL="0" indent="0">
              <a:buNone/>
            </a:pPr>
            <a:r>
              <a:rPr lang="en-US" dirty="0" smtClean="0"/>
              <a:t>			</a:t>
            </a:r>
            <a:r>
              <a:rPr lang="en-US" dirty="0" smtClean="0">
                <a:solidFill>
                  <a:schemeClr val="accent1"/>
                </a:solidFill>
                <a:latin typeface="+mj-lt"/>
                <a:cs typeface="Calibri" panose="020F0502020204030204" pitchFamily="34" charset="0"/>
              </a:rPr>
              <a:t>Insight</a:t>
            </a:r>
          </a:p>
          <a:p>
            <a:pPr marL="0" indent="0">
              <a:buNone/>
            </a:pPr>
            <a:r>
              <a:rPr lang="en-US" sz="1600" dirty="0">
                <a:solidFill>
                  <a:schemeClr val="accent1"/>
                </a:solidFill>
              </a:rPr>
              <a:t>This shows that customers are willing to spend more on premium smartphones, reflecting strong demand for advanced features and high-end device specifications.</a:t>
            </a:r>
          </a:p>
        </p:txBody>
      </p:sp>
      <p:sp>
        <p:nvSpPr>
          <p:cNvPr id="4" name="Content Placeholder 3"/>
          <p:cNvSpPr>
            <a:spLocks noGrp="1"/>
          </p:cNvSpPr>
          <p:nvPr>
            <p:ph sz="half" idx="2"/>
          </p:nvPr>
        </p:nvSpPr>
        <p:spPr>
          <a:xfrm>
            <a:off x="5089970" y="3783589"/>
            <a:ext cx="4422164" cy="1757549"/>
          </a:xfrm>
        </p:spPr>
        <p:txBody>
          <a:bodyPr>
            <a:normAutofit/>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Although premium smartphones generate more revenue, affordability remains a major factor influencing purchase decisions for a larger portion of customers.</a:t>
            </a:r>
          </a:p>
        </p:txBody>
      </p:sp>
      <p:sp>
        <p:nvSpPr>
          <p:cNvPr id="6" name="Content Placeholder 2"/>
          <p:cNvSpPr txBox="1">
            <a:spLocks/>
          </p:cNvSpPr>
          <p:nvPr/>
        </p:nvSpPr>
        <p:spPr>
          <a:xfrm>
            <a:off x="689209" y="760022"/>
            <a:ext cx="4184035" cy="33409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7" name="Picture 6"/>
          <p:cNvPicPr>
            <a:picLocks noChangeAspect="1"/>
          </p:cNvPicPr>
          <p:nvPr/>
        </p:nvPicPr>
        <p:blipFill>
          <a:blip r:embed="rId2"/>
          <a:stretch>
            <a:fillRect/>
          </a:stretch>
        </p:blipFill>
        <p:spPr>
          <a:xfrm>
            <a:off x="301244" y="874134"/>
            <a:ext cx="4572000" cy="2795339"/>
          </a:xfrm>
          <a:prstGeom prst="rect">
            <a:avLst/>
          </a:prstGeom>
        </p:spPr>
      </p:pic>
      <p:pic>
        <p:nvPicPr>
          <p:cNvPr id="8" name="Picture 7"/>
          <p:cNvPicPr>
            <a:picLocks noChangeAspect="1"/>
          </p:cNvPicPr>
          <p:nvPr/>
        </p:nvPicPr>
        <p:blipFill>
          <a:blip r:embed="rId3"/>
          <a:stretch>
            <a:fillRect/>
          </a:stretch>
        </p:blipFill>
        <p:spPr>
          <a:xfrm>
            <a:off x="5089970" y="874133"/>
            <a:ext cx="4422164" cy="2795339"/>
          </a:xfrm>
          <a:prstGeom prst="rect">
            <a:avLst/>
          </a:prstGeom>
        </p:spPr>
      </p:pic>
    </p:spTree>
    <p:extLst>
      <p:ext uri="{BB962C8B-B14F-4D97-AF65-F5344CB8AC3E}">
        <p14:creationId xmlns:p14="http://schemas.microsoft.com/office/powerpoint/2010/main" val="410293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1245" y="3783589"/>
            <a:ext cx="4572000" cy="1757549"/>
          </a:xfrm>
        </p:spPr>
        <p:txBody>
          <a:bodyPr>
            <a:normAutofit/>
          </a:bodyPr>
          <a:lstStyle/>
          <a:p>
            <a:pPr marL="0" indent="0">
              <a:buNone/>
            </a:pPr>
            <a:r>
              <a:rPr lang="en-US" dirty="0" smtClean="0"/>
              <a:t>			</a:t>
            </a:r>
            <a:r>
              <a:rPr lang="en-US" dirty="0" smtClean="0">
                <a:solidFill>
                  <a:schemeClr val="accent1"/>
                </a:solidFill>
                <a:latin typeface="+mj-lt"/>
                <a:cs typeface="Calibri" panose="020F0502020204030204" pitchFamily="34" charset="0"/>
              </a:rPr>
              <a:t>Insight</a:t>
            </a:r>
          </a:p>
          <a:p>
            <a:pPr marL="0" indent="0">
              <a:buNone/>
            </a:pPr>
            <a:r>
              <a:rPr lang="en-US" sz="1600" dirty="0" smtClean="0">
                <a:solidFill>
                  <a:schemeClr val="accent1"/>
                </a:solidFill>
              </a:rPr>
              <a:t>Female customers generated the highest total sales, exceeding male and “other” customer gender.</a:t>
            </a:r>
            <a:endParaRPr lang="en-US" sz="1600" dirty="0">
              <a:solidFill>
                <a:schemeClr val="accent1"/>
              </a:solidFill>
            </a:endParaRPr>
          </a:p>
        </p:txBody>
      </p:sp>
      <p:sp>
        <p:nvSpPr>
          <p:cNvPr id="4" name="Content Placeholder 3"/>
          <p:cNvSpPr>
            <a:spLocks noGrp="1"/>
          </p:cNvSpPr>
          <p:nvPr>
            <p:ph sz="half" idx="2"/>
          </p:nvPr>
        </p:nvSpPr>
        <p:spPr>
          <a:xfrm>
            <a:off x="5089970" y="3783589"/>
            <a:ext cx="4422164" cy="1757549"/>
          </a:xfrm>
        </p:spPr>
        <p:txBody>
          <a:bodyPr>
            <a:normAutofit/>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Customer aged 26-33 represent the company’s most valuable customer </a:t>
            </a:r>
            <a:r>
              <a:rPr lang="en-US" sz="1600" dirty="0" smtClean="0">
                <a:solidFill>
                  <a:schemeClr val="accent1"/>
                </a:solidFill>
              </a:rPr>
              <a:t>age-group.</a:t>
            </a:r>
            <a:endParaRPr lang="en-US" sz="1600" dirty="0">
              <a:solidFill>
                <a:schemeClr val="accent1"/>
              </a:solidFill>
            </a:endParaRPr>
          </a:p>
          <a:p>
            <a:pPr marL="0" indent="0">
              <a:buNone/>
            </a:pPr>
            <a:endParaRPr lang="en-US" sz="1400" dirty="0"/>
          </a:p>
        </p:txBody>
      </p:sp>
      <p:sp>
        <p:nvSpPr>
          <p:cNvPr id="6" name="Content Placeholder 2"/>
          <p:cNvSpPr txBox="1">
            <a:spLocks/>
          </p:cNvSpPr>
          <p:nvPr/>
        </p:nvSpPr>
        <p:spPr>
          <a:xfrm>
            <a:off x="689209" y="760022"/>
            <a:ext cx="4184035" cy="33409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2" name="Picture 1"/>
          <p:cNvPicPr>
            <a:picLocks noChangeAspect="1"/>
          </p:cNvPicPr>
          <p:nvPr/>
        </p:nvPicPr>
        <p:blipFill>
          <a:blip r:embed="rId2"/>
          <a:stretch>
            <a:fillRect/>
          </a:stretch>
        </p:blipFill>
        <p:spPr>
          <a:xfrm>
            <a:off x="305606" y="874132"/>
            <a:ext cx="4567638" cy="2795339"/>
          </a:xfrm>
          <a:prstGeom prst="rect">
            <a:avLst/>
          </a:prstGeom>
        </p:spPr>
      </p:pic>
      <p:pic>
        <p:nvPicPr>
          <p:cNvPr id="5" name="Picture 4"/>
          <p:cNvPicPr>
            <a:picLocks noChangeAspect="1"/>
          </p:cNvPicPr>
          <p:nvPr/>
        </p:nvPicPr>
        <p:blipFill>
          <a:blip r:embed="rId3"/>
          <a:stretch>
            <a:fillRect/>
          </a:stretch>
        </p:blipFill>
        <p:spPr>
          <a:xfrm>
            <a:off x="5089970" y="874132"/>
            <a:ext cx="4422164" cy="2795339"/>
          </a:xfrm>
          <a:prstGeom prst="rect">
            <a:avLst/>
          </a:prstGeom>
        </p:spPr>
      </p:pic>
    </p:spTree>
    <p:extLst>
      <p:ext uri="{BB962C8B-B14F-4D97-AF65-F5344CB8AC3E}">
        <p14:creationId xmlns:p14="http://schemas.microsoft.com/office/powerpoint/2010/main" val="66059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1245" y="3783589"/>
            <a:ext cx="4572000" cy="1757549"/>
          </a:xfrm>
        </p:spPr>
        <p:txBody>
          <a:bodyPr>
            <a:normAutofit/>
          </a:bodyPr>
          <a:lstStyle/>
          <a:p>
            <a:pPr marL="0" indent="0">
              <a:buNone/>
            </a:pPr>
            <a:r>
              <a:rPr lang="en-US" dirty="0" smtClean="0"/>
              <a:t>			</a:t>
            </a:r>
            <a:r>
              <a:rPr lang="en-US" dirty="0" smtClean="0">
                <a:solidFill>
                  <a:schemeClr val="accent1"/>
                </a:solidFill>
                <a:latin typeface="+mj-lt"/>
                <a:cs typeface="Calibri" panose="020F0502020204030204" pitchFamily="34" charset="0"/>
              </a:rPr>
              <a:t>Insight</a:t>
            </a:r>
          </a:p>
          <a:p>
            <a:pPr marL="0" indent="0">
              <a:buNone/>
            </a:pPr>
            <a:r>
              <a:rPr lang="en-US" sz="1600" dirty="0">
                <a:solidFill>
                  <a:schemeClr val="accent1"/>
                </a:solidFill>
              </a:rPr>
              <a:t>Samsung’s premium models </a:t>
            </a:r>
            <a:r>
              <a:rPr lang="en-US" sz="1600" dirty="0" smtClean="0">
                <a:solidFill>
                  <a:schemeClr val="accent1"/>
                </a:solidFill>
              </a:rPr>
              <a:t>dominate </a:t>
            </a:r>
            <a:r>
              <a:rPr lang="en-US" sz="1600" dirty="0">
                <a:solidFill>
                  <a:schemeClr val="accent1"/>
                </a:solidFill>
              </a:rPr>
              <a:t>revenue generation, indicating strong market demand for high-end devices.</a:t>
            </a:r>
          </a:p>
          <a:p>
            <a:pPr marL="0" indent="0">
              <a:buNone/>
            </a:pPr>
            <a:endParaRPr lang="en-US" sz="1400" dirty="0"/>
          </a:p>
        </p:txBody>
      </p:sp>
      <p:sp>
        <p:nvSpPr>
          <p:cNvPr id="4" name="Content Placeholder 3"/>
          <p:cNvSpPr>
            <a:spLocks noGrp="1"/>
          </p:cNvSpPr>
          <p:nvPr>
            <p:ph sz="half" idx="2"/>
          </p:nvPr>
        </p:nvSpPr>
        <p:spPr>
          <a:xfrm>
            <a:off x="5089970" y="3783589"/>
            <a:ext cx="4422164" cy="1757549"/>
          </a:xfrm>
        </p:spPr>
        <p:txBody>
          <a:bodyPr>
            <a:normAutofit/>
          </a:bodyPr>
          <a:lstStyle/>
          <a:p>
            <a:pPr marL="0" indent="0">
              <a:buNone/>
            </a:pPr>
            <a:r>
              <a:rPr lang="en-US" dirty="0" smtClean="0"/>
              <a:t>			</a:t>
            </a:r>
            <a:r>
              <a:rPr lang="en-US" dirty="0" smtClean="0">
                <a:solidFill>
                  <a:schemeClr val="accent1"/>
                </a:solidFill>
              </a:rPr>
              <a:t>Insight</a:t>
            </a:r>
          </a:p>
          <a:p>
            <a:pPr marL="0" indent="0">
              <a:buNone/>
            </a:pPr>
            <a:r>
              <a:rPr lang="en-US" sz="1600" dirty="0">
                <a:solidFill>
                  <a:schemeClr val="accent1"/>
                </a:solidFill>
              </a:rPr>
              <a:t>This suggests that customers strongly value products that balance performance and affordability. While premium devices generate higher revenue, affordably priced models achieve higher purchase volume.</a:t>
            </a:r>
          </a:p>
          <a:p>
            <a:pPr marL="0" indent="0">
              <a:buNone/>
            </a:pPr>
            <a:endParaRPr lang="en-US" sz="1400" dirty="0"/>
          </a:p>
        </p:txBody>
      </p:sp>
      <p:sp>
        <p:nvSpPr>
          <p:cNvPr id="6" name="Content Placeholder 2"/>
          <p:cNvSpPr txBox="1">
            <a:spLocks/>
          </p:cNvSpPr>
          <p:nvPr/>
        </p:nvSpPr>
        <p:spPr>
          <a:xfrm>
            <a:off x="689209" y="760022"/>
            <a:ext cx="4184035" cy="33409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7" name="Picture 6"/>
          <p:cNvPicPr>
            <a:picLocks noChangeAspect="1"/>
          </p:cNvPicPr>
          <p:nvPr/>
        </p:nvPicPr>
        <p:blipFill>
          <a:blip r:embed="rId2"/>
          <a:stretch>
            <a:fillRect/>
          </a:stretch>
        </p:blipFill>
        <p:spPr>
          <a:xfrm>
            <a:off x="301245" y="874131"/>
            <a:ext cx="4571999" cy="2795339"/>
          </a:xfrm>
          <a:prstGeom prst="rect">
            <a:avLst/>
          </a:prstGeom>
        </p:spPr>
      </p:pic>
      <p:pic>
        <p:nvPicPr>
          <p:cNvPr id="8" name="Picture 7"/>
          <p:cNvPicPr>
            <a:picLocks noChangeAspect="1"/>
          </p:cNvPicPr>
          <p:nvPr/>
        </p:nvPicPr>
        <p:blipFill>
          <a:blip r:embed="rId3"/>
          <a:stretch>
            <a:fillRect/>
          </a:stretch>
        </p:blipFill>
        <p:spPr>
          <a:xfrm>
            <a:off x="5089970" y="874130"/>
            <a:ext cx="4422164" cy="2795339"/>
          </a:xfrm>
          <a:prstGeom prst="rect">
            <a:avLst/>
          </a:prstGeom>
        </p:spPr>
      </p:pic>
    </p:spTree>
    <p:extLst>
      <p:ext uri="{BB962C8B-B14F-4D97-AF65-F5344CB8AC3E}">
        <p14:creationId xmlns:p14="http://schemas.microsoft.com/office/powerpoint/2010/main" val="1431884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2960" y="573254"/>
            <a:ext cx="8596668" cy="696686"/>
          </a:xfrm>
        </p:spPr>
        <p:txBody>
          <a:bodyPr/>
          <a:lstStyle/>
          <a:p>
            <a:r>
              <a:rPr lang="en-US" dirty="0" smtClean="0"/>
              <a:t>				Recommendations</a:t>
            </a:r>
            <a:endParaRPr lang="en-US" dirty="0"/>
          </a:p>
        </p:txBody>
      </p:sp>
      <p:sp>
        <p:nvSpPr>
          <p:cNvPr id="3" name="Content Placeholder 2"/>
          <p:cNvSpPr>
            <a:spLocks noGrp="1"/>
          </p:cNvSpPr>
          <p:nvPr>
            <p:ph idx="1"/>
          </p:nvPr>
        </p:nvSpPr>
        <p:spPr>
          <a:xfrm>
            <a:off x="570457" y="1269940"/>
            <a:ext cx="8596668" cy="4430216"/>
          </a:xfrm>
        </p:spPr>
        <p:txBody>
          <a:bodyPr/>
          <a:lstStyle/>
          <a:p>
            <a:r>
              <a:rPr lang="en-US" dirty="0" smtClean="0">
                <a:solidFill>
                  <a:schemeClr val="accent1"/>
                </a:solidFill>
              </a:rPr>
              <a:t>Strengthen focus on high-performing markets</a:t>
            </a:r>
          </a:p>
          <a:p>
            <a:r>
              <a:rPr lang="en-US" dirty="0" smtClean="0">
                <a:solidFill>
                  <a:schemeClr val="accent1"/>
                </a:solidFill>
              </a:rPr>
              <a:t>Optimize inventory based on product demand</a:t>
            </a:r>
          </a:p>
          <a:p>
            <a:r>
              <a:rPr lang="en-US" dirty="0" smtClean="0">
                <a:solidFill>
                  <a:schemeClr val="accent1"/>
                </a:solidFill>
              </a:rPr>
              <a:t>Increase investment in online sales channels</a:t>
            </a:r>
          </a:p>
          <a:p>
            <a:r>
              <a:rPr lang="en-US" dirty="0" smtClean="0">
                <a:solidFill>
                  <a:schemeClr val="accent1"/>
                </a:solidFill>
              </a:rPr>
              <a:t>Develop pricing strategies for different customer segments</a:t>
            </a:r>
          </a:p>
          <a:p>
            <a:r>
              <a:rPr lang="en-US" dirty="0" smtClean="0">
                <a:solidFill>
                  <a:schemeClr val="accent1"/>
                </a:solidFill>
              </a:rPr>
              <a:t>Target marketing toward key customer demographics</a:t>
            </a:r>
          </a:p>
          <a:p>
            <a:r>
              <a:rPr lang="en-US" dirty="0" smtClean="0">
                <a:solidFill>
                  <a:schemeClr val="accent1"/>
                </a:solidFill>
              </a:rPr>
              <a:t>Expand mid-range product offerings with larger storage </a:t>
            </a:r>
          </a:p>
          <a:p>
            <a:r>
              <a:rPr lang="en-US" dirty="0">
                <a:solidFill>
                  <a:schemeClr val="accent1"/>
                </a:solidFill>
              </a:rPr>
              <a:t>Improve Monthly Sales </a:t>
            </a:r>
            <a:r>
              <a:rPr lang="en-US" dirty="0" smtClean="0">
                <a:solidFill>
                  <a:schemeClr val="accent1"/>
                </a:solidFill>
              </a:rPr>
              <a:t>Stability</a:t>
            </a:r>
          </a:p>
          <a:p>
            <a:pPr marL="0" indent="0">
              <a:buNone/>
            </a:pPr>
            <a:endParaRPr lang="en-US" dirty="0">
              <a:solidFill>
                <a:schemeClr val="accent1"/>
              </a:solidFill>
            </a:endParaRPr>
          </a:p>
          <a:p>
            <a:pPr marL="0" indent="0">
              <a:buNone/>
            </a:pPr>
            <a:r>
              <a:rPr lang="en-US" dirty="0">
                <a:solidFill>
                  <a:schemeClr val="accent1"/>
                </a:solidFill>
              </a:rPr>
              <a:t>Overall, Velocity Phone Inc. should maintain a balanced product strategy that supports both premium high-revenue devices and lower-cost high-volume products. This dual approach will ensure broader market coverage and greater revenue stability.</a:t>
            </a:r>
          </a:p>
          <a:p>
            <a:endParaRPr lang="en-US" dirty="0" smtClean="0"/>
          </a:p>
          <a:p>
            <a:endParaRPr lang="en-US" dirty="0"/>
          </a:p>
          <a:p>
            <a:endParaRPr lang="en-US" dirty="0"/>
          </a:p>
          <a:p>
            <a:endParaRPr lang="en-US" dirty="0"/>
          </a:p>
        </p:txBody>
      </p:sp>
    </p:spTree>
    <p:extLst>
      <p:ext uri="{BB962C8B-B14F-4D97-AF65-F5344CB8AC3E}">
        <p14:creationId xmlns:p14="http://schemas.microsoft.com/office/powerpoint/2010/main" val="1846825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048267"/>
            <a:ext cx="8596668" cy="744907"/>
          </a:xfrm>
        </p:spPr>
        <p:txBody>
          <a:bodyPr/>
          <a:lstStyle/>
          <a:p>
            <a:r>
              <a:rPr lang="en-US" dirty="0" smtClean="0"/>
              <a:t>						Conclusion</a:t>
            </a:r>
            <a:endParaRPr lang="en-US" dirty="0"/>
          </a:p>
        </p:txBody>
      </p:sp>
      <p:sp>
        <p:nvSpPr>
          <p:cNvPr id="3" name="Content Placeholder 2"/>
          <p:cNvSpPr>
            <a:spLocks noGrp="1"/>
          </p:cNvSpPr>
          <p:nvPr>
            <p:ph idx="1"/>
          </p:nvPr>
        </p:nvSpPr>
        <p:spPr>
          <a:xfrm>
            <a:off x="677334" y="1934958"/>
            <a:ext cx="8596668" cy="2720169"/>
          </a:xfrm>
        </p:spPr>
        <p:txBody>
          <a:bodyPr>
            <a:normAutofit/>
          </a:bodyPr>
          <a:lstStyle/>
          <a:p>
            <a:pPr marL="0" indent="0">
              <a:buNone/>
            </a:pPr>
            <a:r>
              <a:rPr lang="en-US" sz="2000" dirty="0">
                <a:solidFill>
                  <a:schemeClr val="accent1"/>
                </a:solidFill>
              </a:rPr>
              <a:t>T</a:t>
            </a:r>
            <a:r>
              <a:rPr lang="en-US" sz="2000" dirty="0" smtClean="0">
                <a:solidFill>
                  <a:schemeClr val="accent1"/>
                </a:solidFill>
              </a:rPr>
              <a:t>he </a:t>
            </a:r>
            <a:r>
              <a:rPr lang="en-US" sz="2000" dirty="0">
                <a:solidFill>
                  <a:schemeClr val="accent1"/>
                </a:solidFill>
              </a:rPr>
              <a:t>dashboard analysis demonstrates that Velocity Phone Inc. has significant growth opportunities. </a:t>
            </a:r>
            <a:endParaRPr lang="en-US" sz="2000" dirty="0" smtClean="0">
              <a:solidFill>
                <a:schemeClr val="accent1"/>
              </a:solidFill>
            </a:endParaRPr>
          </a:p>
          <a:p>
            <a:pPr marL="0" indent="0">
              <a:buNone/>
            </a:pPr>
            <a:r>
              <a:rPr lang="en-US" sz="2000" dirty="0" smtClean="0">
                <a:solidFill>
                  <a:schemeClr val="accent1"/>
                </a:solidFill>
              </a:rPr>
              <a:t>By </a:t>
            </a:r>
            <a:r>
              <a:rPr lang="en-US" sz="2000" dirty="0">
                <a:solidFill>
                  <a:schemeClr val="accent1"/>
                </a:solidFill>
              </a:rPr>
              <a:t>implementing strategic inventory planning, expanding digital channels, adopting customer-focused marketing, and driving product innovation, the company can enhance operational efficiency, increase customer satisfaction, and achieve sustainable revenue growth.</a:t>
            </a:r>
          </a:p>
        </p:txBody>
      </p:sp>
    </p:spTree>
    <p:extLst>
      <p:ext uri="{BB962C8B-B14F-4D97-AF65-F5344CB8AC3E}">
        <p14:creationId xmlns:p14="http://schemas.microsoft.com/office/powerpoint/2010/main" val="2471898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91091" y="1275828"/>
            <a:ext cx="8596668" cy="1826581"/>
          </a:xfrm>
        </p:spPr>
        <p:txBody>
          <a:bodyPr/>
          <a:lstStyle/>
          <a:p>
            <a:r>
              <a:rPr lang="en-US" dirty="0" smtClean="0"/>
              <a:t>					</a:t>
            </a:r>
            <a:r>
              <a:rPr lang="en-US" sz="4400" b="1" dirty="0" smtClean="0"/>
              <a:t>Thank You!</a:t>
            </a:r>
            <a:endParaRPr lang="en-US" sz="4400" b="1" dirty="0"/>
          </a:p>
        </p:txBody>
      </p:sp>
    </p:spTree>
    <p:extLst>
      <p:ext uri="{BB962C8B-B14F-4D97-AF65-F5344CB8AC3E}">
        <p14:creationId xmlns:p14="http://schemas.microsoft.com/office/powerpoint/2010/main" val="1216406755"/>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230</TotalTime>
  <Words>263</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Trebuchet MS</vt:lpstr>
      <vt:lpstr>Wingdings 3</vt:lpstr>
      <vt:lpstr>Facet</vt:lpstr>
      <vt:lpstr> MOBILE PHONE SALES ANALYSIS A Business Intelligence for Velocity Phone Inc.</vt:lpstr>
      <vt:lpstr>     Project Overview</vt:lpstr>
      <vt:lpstr>    Problem Statement</vt:lpstr>
      <vt:lpstr>    Project Objectives</vt:lpstr>
      <vt:lpstr>     Dashboard 1 Overview          (Sales Performance Dashboard </vt:lpstr>
      <vt:lpstr>     Dashboard 2 Overview</vt:lpstr>
      <vt:lpstr>PowerPoint Presentation</vt:lpstr>
      <vt:lpstr>PowerPoint Presentation</vt:lpstr>
      <vt:lpstr>PowerPoint Presentation</vt:lpstr>
      <vt:lpstr>PowerPoint Presentation</vt:lpstr>
      <vt:lpstr>PowerPoint Presentation</vt:lpstr>
      <vt:lpstr>PowerPoint Presentation</vt:lpstr>
      <vt:lpstr>    Recommendations</vt:lpstr>
      <vt:lpstr>      Conclusion</vt:lpstr>
      <vt:lpstr>     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MOBILE PHONE SALES ANALYSIS</dc:title>
  <dc:creator>SEGUN</dc:creator>
  <cp:lastModifiedBy>SEGUN</cp:lastModifiedBy>
  <cp:revision>43</cp:revision>
  <dcterms:created xsi:type="dcterms:W3CDTF">2026-05-28T07:37:41Z</dcterms:created>
  <dcterms:modified xsi:type="dcterms:W3CDTF">2026-05-29T19:35:14Z</dcterms:modified>
</cp:coreProperties>
</file>